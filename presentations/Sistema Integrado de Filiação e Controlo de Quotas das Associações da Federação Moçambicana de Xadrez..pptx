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315" r:id="rId5"/>
    <p:sldId id="292" r:id="rId6"/>
    <p:sldId id="296" r:id="rId7"/>
    <p:sldId id="294" r:id="rId8"/>
    <p:sldId id="297" r:id="rId9"/>
    <p:sldId id="298" r:id="rId10"/>
    <p:sldId id="299" r:id="rId11"/>
    <p:sldId id="295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9" r:id="rId24"/>
    <p:sldId id="311" r:id="rId25"/>
    <p:sldId id="313" r:id="rId26"/>
    <p:sldId id="316" r:id="rId27"/>
    <p:sldId id="317" r:id="rId28"/>
    <p:sldId id="318" r:id="rId29"/>
    <p:sldId id="289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78" d="100"/>
          <a:sy n="78" d="100"/>
        </p:scale>
        <p:origin x="878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5B7E-9D76-706D-4814-F109B166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8F5EC-A8C6-4B1D-C319-30686370F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D7E39-7F97-375E-F1E4-27DD61250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155C3-E350-E751-8768-6FB353D96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7059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BB5A8-232D-A543-27CB-E5B025B2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D5865-CF99-92F9-E4D2-9813E0C2F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909A3-089B-B02B-E634-07653E25E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CF4F8-62E0-4E74-A7F4-724BAB657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15631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F8A16-4E27-BAE0-436E-BD79F3BE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ADFAD-4297-7650-C053-9943CB997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0924C-B6B8-E28F-DFD5-0A5C85C66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B99D7-0691-C282-BCED-9E980B192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52530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DF68-CBE0-9F3C-DDFE-C28CEC41B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A4411-D43F-C335-E3AF-AB10A752C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9DFF9-7D54-AF5F-6CD2-5133AEE84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C8479-7A1C-45EE-587F-9A345F76E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38976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1E1E4-C5A6-F95A-AB1C-F0D00FB11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E31E8-497F-0F01-3ECD-E489A4305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0CA06-86C7-C888-4607-663D77ADF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DF4FE-190B-9EC3-18E8-021D593C5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98118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4B23B-4A7B-8AEC-C3E5-887C2CE2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E8647-9CD1-5042-B1A0-C9DB5F14C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A765D-1FDB-7266-0357-6D328355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2418A-9191-CADE-B2D7-8D5FD6140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50524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3888-D68C-23B1-1ADC-5AE5D4DD3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97" y="1601992"/>
            <a:ext cx="5117162" cy="1325563"/>
          </a:xfrm>
        </p:spPr>
        <p:txBody>
          <a:bodyPr/>
          <a:lstStyle/>
          <a:p>
            <a:r>
              <a:rPr lang="pt-PT" sz="3200" noProof="0" dirty="0">
                <a:solidFill>
                  <a:schemeClr val="tx2"/>
                </a:solidFill>
              </a:rPr>
              <a:t>Integrantes do grupo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9A0AA-F46F-58AF-A685-3508D57FEC6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7897" y="2816114"/>
            <a:ext cx="4260180" cy="1519912"/>
          </a:xfrm>
        </p:spPr>
        <p:txBody>
          <a:bodyPr/>
          <a:lstStyle/>
          <a:p>
            <a:r>
              <a:rPr lang="pt-PT" sz="2400" noProof="0" dirty="0"/>
              <a:t>Ester Melina Elias </a:t>
            </a:r>
            <a:r>
              <a:rPr lang="pt-PT" sz="2400" noProof="0" dirty="0" err="1"/>
              <a:t>Mapaco</a:t>
            </a:r>
            <a:endParaRPr lang="pt-PT" sz="2400" noProof="0" dirty="0"/>
          </a:p>
          <a:p>
            <a:r>
              <a:rPr lang="pt-PT" sz="2400" noProof="0" dirty="0"/>
              <a:t>Génio </a:t>
            </a:r>
            <a:r>
              <a:rPr lang="pt-PT" sz="2400" noProof="0" dirty="0" err="1"/>
              <a:t>Nassone</a:t>
            </a:r>
            <a:r>
              <a:rPr lang="pt-PT" sz="2400" noProof="0" dirty="0"/>
              <a:t> Cossa</a:t>
            </a:r>
          </a:p>
          <a:p>
            <a:r>
              <a:rPr lang="pt-PT" sz="2400" noProof="0" dirty="0"/>
              <a:t>Virgílio Pavia Gomes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A79D1-4301-75E1-660B-5947D90BFC5D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</a:t>
            </a:fld>
            <a:endParaRPr lang="en-US" altLang="zh-CN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AFCFB2CF-6568-8C24-E240-3FB533B622D3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18602" r="18602"/>
          <a:stretch>
            <a:fillRect/>
          </a:stretch>
        </p:blipFill>
        <p:spPr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D8B7E5F-0CB0-F36D-358E-87DEE8B1AD58}"/>
              </a:ext>
            </a:extLst>
          </p:cNvPr>
          <p:cNvSpPr txBox="1">
            <a:spLocks/>
          </p:cNvSpPr>
          <p:nvPr/>
        </p:nvSpPr>
        <p:spPr>
          <a:xfrm>
            <a:off x="607897" y="5509096"/>
            <a:ext cx="4260180" cy="10739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b="1" dirty="0"/>
              <a:t>Docente:</a:t>
            </a:r>
          </a:p>
          <a:p>
            <a:r>
              <a:rPr lang="pt-PT" sz="2400" dirty="0"/>
              <a:t>Cláudia </a:t>
            </a:r>
            <a:r>
              <a:rPr lang="pt-PT" sz="2400" dirty="0" err="1"/>
              <a:t>Jovo</a:t>
            </a:r>
            <a:r>
              <a:rPr lang="pt-PT" sz="2400" dirty="0"/>
              <a:t> Gune</a:t>
            </a:r>
          </a:p>
        </p:txBody>
      </p:sp>
    </p:spTree>
    <p:extLst>
      <p:ext uri="{BB962C8B-B14F-4D97-AF65-F5344CB8AC3E}">
        <p14:creationId xmlns:p14="http://schemas.microsoft.com/office/powerpoint/2010/main" val="360996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677" y="1637478"/>
            <a:ext cx="4969477" cy="20574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PT" sz="2400" b="0" dirty="0"/>
              <a:t>Tema: </a:t>
            </a:r>
            <a:r>
              <a:rPr lang="pt-PT" sz="2400" dirty="0"/>
              <a:t>Sistema Integrado de Filiação e Controlo de Quotas das Associações da Federação Moçambicana de Xadrez.</a:t>
            </a:r>
            <a:endParaRPr lang="en-US" sz="2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6" y="4209963"/>
            <a:ext cx="4494634" cy="735417"/>
          </a:xfrm>
        </p:spPr>
        <p:txBody>
          <a:bodyPr/>
          <a:lstStyle/>
          <a:p>
            <a:r>
              <a:rPr lang="pt-PT" sz="2000" b="1" dirty="0"/>
              <a:t>Caso de estudo:</a:t>
            </a:r>
            <a:r>
              <a:rPr lang="en-US" sz="2000" b="1" dirty="0"/>
              <a:t> </a:t>
            </a:r>
            <a:r>
              <a:rPr lang="pt-PT" sz="2000" dirty="0"/>
              <a:t>Associação de Xadrez da Cidade de Maputo.</a:t>
            </a:r>
            <a:endParaRPr lang="en-US" sz="2000" dirty="0"/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479F3D11-CF38-6380-AE2C-C58B95A4D8B1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0954" r="20954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8DDE8-3390-1329-FD1A-B9A489F1B92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4" y="1857241"/>
            <a:ext cx="6599428" cy="4558578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1" dirty="0"/>
              <a:t>Associações Provinciais filiadas à Federação Moçambicana de Xadrez</a:t>
            </a:r>
            <a:r>
              <a:rPr lang="pt-PT" sz="2400" dirty="0"/>
              <a:t>, responsáveis pelo registo e gestão dos seus filiados.</a:t>
            </a: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1" dirty="0"/>
              <a:t>Federação Moçambicana de Xadrez</a:t>
            </a:r>
            <a:r>
              <a:rPr lang="pt-PT" sz="2400" dirty="0"/>
              <a:t>, para efeitos de supervisão, consulta estatística e controlo institucional.</a:t>
            </a: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1" dirty="0"/>
              <a:t>Jogadores filiados</a:t>
            </a:r>
            <a:r>
              <a:rPr lang="pt-PT" sz="2400" dirty="0"/>
              <a:t>, para consulta do seu estado de filiação e elegibilidade.</a:t>
            </a:r>
            <a:endParaRPr lang="en-US" sz="240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D84FC81-1584-E287-AAD6-03CC1BBE812A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20649" r="20649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1300BDE-EFA2-E169-99A2-39D80DE7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3" y="727587"/>
            <a:ext cx="6599429" cy="912338"/>
          </a:xfrm>
        </p:spPr>
        <p:txBody>
          <a:bodyPr/>
          <a:lstStyle/>
          <a:p>
            <a:r>
              <a:rPr lang="pt-PT" dirty="0"/>
              <a:t>Público alvo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56F164-69D9-AB37-B251-B04DD2DEE58E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644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1068212"/>
            <a:ext cx="4518122" cy="811733"/>
          </a:xfrm>
        </p:spPr>
        <p:txBody>
          <a:bodyPr/>
          <a:lstStyle/>
          <a:p>
            <a:r>
              <a:rPr lang="pt-PT" sz="4000" dirty="0"/>
              <a:t>Valor</a:t>
            </a:r>
            <a:endParaRPr lang="en-US" sz="40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095999" y="2120442"/>
            <a:ext cx="5556762" cy="3669346"/>
          </a:xfrm>
        </p:spPr>
        <p:txBody>
          <a:bodyPr/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dirty="0">
                <a:solidFill>
                  <a:schemeClr val="tx2"/>
                </a:solidFill>
              </a:rPr>
              <a:t>Base de dados única de filiados;</a:t>
            </a:r>
            <a:endParaRPr lang="en-US" sz="2400" dirty="0">
              <a:solidFill>
                <a:schemeClr val="tx2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dirty="0">
                <a:solidFill>
                  <a:schemeClr val="tx2"/>
                </a:solidFill>
              </a:rPr>
              <a:t>Controlo claro de quotas;</a:t>
            </a:r>
            <a:endParaRPr lang="en-US" sz="2400" dirty="0">
              <a:solidFill>
                <a:schemeClr val="tx2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dirty="0">
                <a:solidFill>
                  <a:schemeClr val="tx2"/>
                </a:solidFill>
              </a:rPr>
              <a:t>Verificação rápida de elegibilidade;</a:t>
            </a:r>
            <a:endParaRPr lang="en-US" sz="2400" dirty="0">
              <a:solidFill>
                <a:schemeClr val="tx2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dirty="0">
                <a:solidFill>
                  <a:schemeClr val="tx2"/>
                </a:solidFill>
              </a:rPr>
              <a:t>Redução de erros administrativos;</a:t>
            </a:r>
            <a:endParaRPr lang="en-US" sz="2400" dirty="0">
              <a:solidFill>
                <a:schemeClr val="tx2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dirty="0">
                <a:solidFill>
                  <a:schemeClr val="tx2"/>
                </a:solidFill>
              </a:rPr>
              <a:t>Estatísticas nacionais </a:t>
            </a:r>
            <a:r>
              <a:rPr lang="pt-PT" sz="2400" dirty="0" err="1">
                <a:solidFill>
                  <a:schemeClr val="tx2"/>
                </a:solidFill>
              </a:rPr>
              <a:t>actualizadas</a:t>
            </a:r>
            <a:r>
              <a:rPr lang="pt-PT" sz="2400" dirty="0">
                <a:solidFill>
                  <a:schemeClr val="tx2"/>
                </a:solidFill>
              </a:rPr>
              <a:t>.</a:t>
            </a:r>
            <a:endParaRPr 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23059-D7CE-317D-6C98-A05C184DF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E71BD-F111-33B4-FBF3-6EAB8F2E49E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4" y="1303066"/>
            <a:ext cx="6599428" cy="501450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A Federação Moçambicana de Xadrez enfrenta dificuldades na gestão das informações das associações e dos jogadores.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Actualmente não existe uma base de dados nacional estruturada que permita identificar e acompanhar os praticantes de xadrez.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O controlo do pagamento de quotas das associações não é realizado de forma sistemática.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F9FE5A-DCEE-8430-64BA-E9C92635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215961"/>
            <a:ext cx="6599429" cy="912338"/>
          </a:xfrm>
        </p:spPr>
        <p:txBody>
          <a:bodyPr/>
          <a:lstStyle/>
          <a:p>
            <a:r>
              <a:rPr lang="pt-PT" dirty="0"/>
              <a:t>Problematização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617BED-8ADB-D67D-B217-9C7909E23913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940CBCF-CF1D-0854-F3AB-DFBCB935120A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27998" r="27998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263657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DFA0-B90A-FEF4-F004-6EB56459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295A2-3D53-4257-A88C-976A45F7AC3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3" y="1027762"/>
            <a:ext cx="6599428" cy="501450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Em Moçambique, muitos jogadores apenas obtêm registo formal quando participam em competições internacionais.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Grande parte dos praticantes de xadrez no país não possui um registo estruturado a nível nacional.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O controlo administrativo e financeiro das associações ainda é limitado e pouco sistemático.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A5B172-F6E2-F42A-596D-3D7319F0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3" y="206477"/>
            <a:ext cx="6599429" cy="740956"/>
          </a:xfrm>
        </p:spPr>
        <p:txBody>
          <a:bodyPr/>
          <a:lstStyle/>
          <a:p>
            <a:r>
              <a:rPr lang="pt-PT" sz="4000" noProof="0" dirty="0"/>
              <a:t>Contextualização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79D327-EF88-9850-5D4D-0C7335B2198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63AD6A6F-C1EF-9B26-C28B-A25147BCDEF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5996" r="5996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367160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DFFAB-084B-FFB1-4BA1-49E7A18C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576C5-2E7C-80CB-3D82-98DED2773F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3" y="1027762"/>
            <a:ext cx="6599428" cy="501450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O sistema será responsável apenas pela gestão de informações de jogadores e associações filiadas à federação.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O sistema permitirá o controlo das quotas das associações, mas não incluirá contabilidade financeira completa.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O histórico de dados será registado principalmente a partir da implementação do sistema.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75982A-40C2-6C48-4121-3889D33CD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3" y="206477"/>
            <a:ext cx="6599429" cy="740956"/>
          </a:xfrm>
        </p:spPr>
        <p:txBody>
          <a:bodyPr/>
          <a:lstStyle/>
          <a:p>
            <a:r>
              <a:rPr lang="pt-PT" sz="4000" noProof="0" dirty="0"/>
              <a:t>Limites do Sistema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1E1BDF-DB07-03BB-8A48-62E99D27FD1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DD79570-6E6A-70B0-2B3A-B5CBA936108F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20649" r="20649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152852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6" y="323647"/>
            <a:ext cx="4187322" cy="17116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Stakeholders</a:t>
            </a:r>
            <a:br>
              <a:rPr lang="en-US" sz="2800" dirty="0"/>
            </a:br>
            <a:r>
              <a:rPr lang="pt-PT" sz="2800" noProof="0" dirty="0" err="1"/>
              <a:t>Stakeholders</a:t>
            </a:r>
            <a:r>
              <a:rPr lang="pt-PT" sz="2800" noProof="0" dirty="0"/>
              <a:t> Primários</a:t>
            </a:r>
            <a:endParaRPr lang="en-US" sz="2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96FE97-5E27-FC36-5E3A-511A31E6C7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507581" y="644331"/>
            <a:ext cx="5162709" cy="420683"/>
          </a:xfrm>
        </p:spPr>
        <p:txBody>
          <a:bodyPr/>
          <a:lstStyle/>
          <a:p>
            <a:r>
              <a:rPr lang="pt-PT" sz="2800" noProof="0" dirty="0"/>
              <a:t>Administrador do Sistema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507581" y="1163950"/>
            <a:ext cx="5162709" cy="523653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Objectivos principais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Criar e gerir contas de utilizadores(Federação e associações 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Atribuir papéis e permissões (FMX, associações)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Activar ou desactivar contas de utilizadores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998E0-6133-305F-5402-10B84044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AFA04A5-235B-8E05-C06D-CAB3B9E2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30" y="308135"/>
            <a:ext cx="4895245" cy="17116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Stakeholders</a:t>
            </a:r>
            <a:br>
              <a:rPr lang="en-US" sz="2800" dirty="0"/>
            </a:br>
            <a:r>
              <a:rPr lang="pt-PT" sz="2800" noProof="0" dirty="0" err="1"/>
              <a:t>Stakeholders</a:t>
            </a:r>
            <a:r>
              <a:rPr lang="pt-PT" sz="2800" noProof="0" dirty="0"/>
              <a:t> Primários</a:t>
            </a:r>
            <a:r>
              <a:rPr lang="pt-PT" sz="2800" noProof="0" dirty="0">
                <a:solidFill>
                  <a:srgbClr val="FF0000"/>
                </a:solidFill>
              </a:rPr>
              <a:t>(</a:t>
            </a:r>
            <a:r>
              <a:rPr lang="pt-PT" sz="2800" noProof="0" dirty="0" err="1">
                <a:solidFill>
                  <a:srgbClr val="FF0000"/>
                </a:solidFill>
              </a:rPr>
              <a:t>cont</a:t>
            </a:r>
            <a:r>
              <a:rPr lang="pt-PT" sz="2800" noProof="0" dirty="0">
                <a:solidFill>
                  <a:srgbClr val="FF0000"/>
                </a:solidFill>
              </a:rPr>
              <a:t>…)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BB9990-93F5-73E1-64EF-A4092745125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02549" y="390051"/>
            <a:ext cx="5162709" cy="420683"/>
          </a:xfrm>
        </p:spPr>
        <p:txBody>
          <a:bodyPr/>
          <a:lstStyle/>
          <a:p>
            <a:r>
              <a:rPr lang="pt-PT" sz="2800" noProof="0" dirty="0"/>
              <a:t>Direção da FMX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D77E91-6004-3471-D8EB-E47EC9A5238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2549" y="722243"/>
            <a:ext cx="5162709" cy="586080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Objectivos principais: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Consultar estatísticas sobre pagamento de quotas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Auditar e activar/desactivar jogadores conforme elegibilidade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Dores: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Falta de dados consolidados sobre jogadores e associações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Dificuldade em verificar elegibilidade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E4B64-DF0F-5814-6129-DAFE468C4D3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1195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007B-0782-47B7-DF5C-BD76E3422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1480387-CDE4-9F4E-8323-FCEF7728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30" y="308135"/>
            <a:ext cx="4895245" cy="17116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Stakeholders</a:t>
            </a:r>
            <a:br>
              <a:rPr lang="en-US" sz="2800" dirty="0"/>
            </a:br>
            <a:r>
              <a:rPr lang="pt-PT" sz="2800" noProof="0" dirty="0" err="1"/>
              <a:t>Stakeholders</a:t>
            </a:r>
            <a:r>
              <a:rPr lang="pt-PT" sz="2800" noProof="0" dirty="0"/>
              <a:t> Primários</a:t>
            </a:r>
            <a:r>
              <a:rPr lang="pt-PT" sz="2800" noProof="0" dirty="0">
                <a:solidFill>
                  <a:srgbClr val="FF0000"/>
                </a:solidFill>
              </a:rPr>
              <a:t>(</a:t>
            </a:r>
            <a:r>
              <a:rPr lang="pt-PT" sz="2800" noProof="0" dirty="0" err="1">
                <a:solidFill>
                  <a:srgbClr val="FF0000"/>
                </a:solidFill>
              </a:rPr>
              <a:t>cont</a:t>
            </a:r>
            <a:r>
              <a:rPr lang="pt-PT" sz="2800" noProof="0" dirty="0">
                <a:solidFill>
                  <a:srgbClr val="FF0000"/>
                </a:solidFill>
              </a:rPr>
              <a:t>…)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D6F2EF-6575-31A6-0FB4-8B7036F663E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02548" y="560705"/>
            <a:ext cx="5162709" cy="420683"/>
          </a:xfrm>
        </p:spPr>
        <p:txBody>
          <a:bodyPr/>
          <a:lstStyle/>
          <a:p>
            <a:r>
              <a:rPr lang="pt-PT" sz="2800" noProof="0" dirty="0"/>
              <a:t>Associações Provinciais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FC3D9E-9192-F9CC-28E1-24D2C091DDF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2548" y="981388"/>
            <a:ext cx="5162709" cy="523653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Objectivos principais: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Gerir pagamentos de quotas;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Confirmar elegibilidade para torneios locais.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Dores: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Falta de integração com a FMX;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Confusão entre jogadores activos e inactivos.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B4659-71E7-7DC1-7482-50DE3828200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8595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33C37-919F-EB69-C278-3BCDC43F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DF31CC5-FF26-CEF2-6FEB-7A690652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30" y="308135"/>
            <a:ext cx="4895245" cy="17116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Stakeholders</a:t>
            </a:r>
            <a:br>
              <a:rPr lang="en-US" sz="2800" dirty="0"/>
            </a:br>
            <a:r>
              <a:rPr lang="pt-PT" sz="2800" noProof="0" dirty="0" err="1"/>
              <a:t>Stakeholders</a:t>
            </a:r>
            <a:r>
              <a:rPr lang="pt-PT" sz="2800" noProof="0" dirty="0"/>
              <a:t> Primários</a:t>
            </a:r>
            <a:r>
              <a:rPr lang="pt-PT" sz="2800" noProof="0" dirty="0">
                <a:solidFill>
                  <a:srgbClr val="FF0000"/>
                </a:solidFill>
              </a:rPr>
              <a:t>(</a:t>
            </a:r>
            <a:r>
              <a:rPr lang="pt-PT" sz="2800" noProof="0" dirty="0" err="1">
                <a:solidFill>
                  <a:srgbClr val="FF0000"/>
                </a:solidFill>
              </a:rPr>
              <a:t>cont</a:t>
            </a:r>
            <a:r>
              <a:rPr lang="pt-PT" sz="2800" noProof="0" dirty="0">
                <a:solidFill>
                  <a:srgbClr val="FF0000"/>
                </a:solidFill>
              </a:rPr>
              <a:t>…)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046714-13ED-EB64-83E4-47485A33DEE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02548" y="560705"/>
            <a:ext cx="5162709" cy="420683"/>
          </a:xfrm>
        </p:spPr>
        <p:txBody>
          <a:bodyPr/>
          <a:lstStyle/>
          <a:p>
            <a:r>
              <a:rPr lang="pt-PT" sz="2800" noProof="0" dirty="0"/>
              <a:t>Jogadores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B7C4AF-22F5-9708-1273-3A91DAE0DB6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2548" y="981388"/>
            <a:ext cx="5162709" cy="523653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Objectivos principais: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Pagar quotas e tornar-se elegível para torneios;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Consultar estado e histórico.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Dores: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Incerteza sobre elegibilidade em torneios;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Falta de transparência nos pagamentos.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7DFCF-70F9-20A9-E88C-B6B1682CD18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060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0A5B6-2738-6D26-3BDA-88201FE8F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98AD4F-E2F0-FBB8-EB7D-A25A5884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30" y="308135"/>
            <a:ext cx="4895245" cy="17116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Stakeholders</a:t>
            </a:r>
            <a:br>
              <a:rPr lang="en-US" sz="2800" dirty="0"/>
            </a:br>
            <a:r>
              <a:rPr lang="pt-PT" sz="2800" noProof="0" dirty="0" err="1"/>
              <a:t>Stakeholders</a:t>
            </a:r>
            <a:r>
              <a:rPr lang="pt-PT" sz="2800" noProof="0" dirty="0"/>
              <a:t> </a:t>
            </a:r>
            <a:r>
              <a:rPr lang="en-US" sz="2800" dirty="0" err="1"/>
              <a:t>Secundários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FF3482-D7D4-FF89-2462-68951C52C7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02548" y="429738"/>
            <a:ext cx="5162709" cy="420683"/>
          </a:xfrm>
        </p:spPr>
        <p:txBody>
          <a:bodyPr/>
          <a:lstStyle/>
          <a:p>
            <a:r>
              <a:rPr lang="pt-PT" sz="2800" noProof="0" dirty="0"/>
              <a:t>Ministério do Desporto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C5C2E9-BA9C-5998-C9E7-2DD8D5B515C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2547" y="850421"/>
            <a:ext cx="5391622" cy="523653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Objectivos principais: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Obter relatórios fiáveis sobre atletas activos;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Avaliar o impacto da modalidade no país.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Dores: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Dados inconsistentes ou atrasados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Necessidade de consolidar informações de várias associações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AF4A7-BAE5-AB78-BCC1-B1B0317D0CA3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9520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45A1-53EB-3845-C5C8-69B9D450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BF3DCE-740F-2990-C4A6-F451CBB1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30" y="308135"/>
            <a:ext cx="5162709" cy="17116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Stakeholders</a:t>
            </a:r>
            <a:br>
              <a:rPr lang="en-US" sz="2800" dirty="0"/>
            </a:br>
            <a:r>
              <a:rPr lang="pt-PT" sz="2800" noProof="0" dirty="0" err="1"/>
              <a:t>Stakeholders</a:t>
            </a:r>
            <a:r>
              <a:rPr lang="pt-PT" sz="2800" noProof="0" dirty="0"/>
              <a:t> </a:t>
            </a:r>
            <a:r>
              <a:rPr lang="en-US" sz="2800" dirty="0" err="1"/>
              <a:t>Secundários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 err="1">
                <a:solidFill>
                  <a:srgbClr val="FF0000"/>
                </a:solidFill>
              </a:rPr>
              <a:t>cont</a:t>
            </a:r>
            <a:r>
              <a:rPr lang="en-US" sz="2800" dirty="0">
                <a:solidFill>
                  <a:srgbClr val="FF0000"/>
                </a:solidFill>
              </a:rPr>
              <a:t>…)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C7603C-0F2F-3B33-8DF1-F544A93F82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308135"/>
            <a:ext cx="5162709" cy="420683"/>
          </a:xfrm>
        </p:spPr>
        <p:txBody>
          <a:bodyPr/>
          <a:lstStyle/>
          <a:p>
            <a:r>
              <a:rPr lang="pt-PT" sz="2800" noProof="0" dirty="0"/>
              <a:t>Patrocinadores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36BDE4A-FD99-C293-EEA8-03CFE9236D2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6000" y="727866"/>
            <a:ext cx="5162709" cy="585517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Objectivos principais: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Avaliar a dimensão da comunidade enxadrística;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Medir o impacto de investimentos e eventos.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Dores: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Falta de dados consolidados sobre participantes;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Informação dispersa que dificulta decisões de investimento.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4DA54-EA03-2F2E-E04D-8E6261F63FC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0545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E3455-873D-3EC3-683F-10C8E5764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817620E-1156-98A4-68E0-3AC5E796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30" y="308135"/>
            <a:ext cx="5162709" cy="17116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Stakeholders</a:t>
            </a:r>
            <a:br>
              <a:rPr lang="en-US" sz="2800" dirty="0"/>
            </a:br>
            <a:r>
              <a:rPr lang="pt-PT" sz="2800" noProof="0" dirty="0" err="1"/>
              <a:t>Stakeholders</a:t>
            </a:r>
            <a:r>
              <a:rPr lang="pt-PT" sz="2800" noProof="0" dirty="0"/>
              <a:t> </a:t>
            </a:r>
            <a:r>
              <a:rPr lang="en-US" sz="2800" dirty="0" err="1"/>
              <a:t>Secundários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 err="1">
                <a:solidFill>
                  <a:srgbClr val="FF0000"/>
                </a:solidFill>
              </a:rPr>
              <a:t>cont</a:t>
            </a:r>
            <a:r>
              <a:rPr lang="en-US" sz="2800" dirty="0">
                <a:solidFill>
                  <a:srgbClr val="FF0000"/>
                </a:solidFill>
              </a:rPr>
              <a:t>…)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99AC3E-8D7B-6E6F-F233-16791A8ADB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0"/>
            <a:ext cx="5162709" cy="905799"/>
          </a:xfrm>
        </p:spPr>
        <p:txBody>
          <a:bodyPr/>
          <a:lstStyle/>
          <a:p>
            <a:r>
              <a:rPr lang="en-US" sz="2400" dirty="0"/>
              <a:t>FIDE (</a:t>
            </a:r>
            <a:r>
              <a:rPr lang="en-US" sz="2400" dirty="0" err="1"/>
              <a:t>Federaçao</a:t>
            </a:r>
            <a:r>
              <a:rPr lang="en-US" sz="2400" dirty="0"/>
              <a:t> Internacional de </a:t>
            </a:r>
            <a:r>
              <a:rPr lang="en-US" sz="2400" dirty="0" err="1"/>
              <a:t>Xadrez</a:t>
            </a:r>
            <a:r>
              <a:rPr lang="en-US" sz="2400" dirty="0"/>
              <a:t>)</a:t>
            </a:r>
            <a:endParaRPr lang="pt-PT" sz="2400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34BC72-469B-EA5E-04A2-C693EEA0BA0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6000" y="884903"/>
            <a:ext cx="5162709" cy="58062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Objectivos principais: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Validar membros oficialmente reconhecidos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Receber relatórios consistentes sobre jogadores e eventos.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400" b="1" dirty="0"/>
              <a:t>Dores: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Diferenças entre dados nacionais e internacionais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Problemas de elegibilidade devido a dados incompletos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D1321-736A-93AB-68AF-225574AC322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6321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1612-D195-36C2-3487-FABAF7F61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E855A-5F14-8AB5-830C-B68F8145F30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3" y="1027762"/>
            <a:ext cx="6599428" cy="501450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sz="2400" b="1" dirty="0"/>
              <a:t>1. Consultar estado de quota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História</a:t>
            </a:r>
            <a:br>
              <a:rPr lang="pt-BR" sz="2400" dirty="0"/>
            </a:br>
            <a:r>
              <a:rPr lang="pt-BR" sz="2400" dirty="0"/>
              <a:t>Como jogador, quero verificar se minha quota está paga para participar em torneios.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Critérios de aceitação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Mostrar data e valor do pagamento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Indicar se a quota está em atraso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Mensagem clara se pagamento não foi confirmado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83AC39-2ACD-9281-333E-A2F30ED3F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3" y="206477"/>
            <a:ext cx="6599429" cy="740956"/>
          </a:xfrm>
        </p:spPr>
        <p:txBody>
          <a:bodyPr/>
          <a:lstStyle/>
          <a:p>
            <a:r>
              <a:rPr lang="en-GB" sz="3600" dirty="0"/>
              <a:t>User Story</a:t>
            </a:r>
            <a:endParaRPr lang="en-US" sz="36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2506BC-5248-5251-991D-4F106FDB3281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F719A68-5AC6-40F3-C5EA-F3533DBA10AB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22981" r="22981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261817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E1BFD-B02F-FED9-9DF4-80C6AA63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14F38-BD9B-3B7B-0B96-AB4B44DECAC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3" y="740956"/>
            <a:ext cx="6599428" cy="55552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sz="2400" b="1" dirty="0"/>
              <a:t>2. Registar novo jogador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História</a:t>
            </a:r>
            <a:br>
              <a:rPr lang="pt-BR" sz="2400" dirty="0"/>
            </a:br>
            <a:r>
              <a:rPr lang="pt-BR" sz="2400" dirty="0"/>
              <a:t>Como </a:t>
            </a:r>
            <a:r>
              <a:rPr lang="pt-BR" sz="2400" b="1" dirty="0"/>
              <a:t>associação</a:t>
            </a:r>
            <a:r>
              <a:rPr lang="pt-BR" sz="2400" dirty="0"/>
              <a:t>, quero registrar novos jogadores para integrar o sistema federativo.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Critérios de aceitação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Campos obrigatórios: nome, data de nascimento, província e e-mail;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Confirmação enviada ao jogador;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Permitir anexar documentos (ID, comprovante de pagamento).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589AB3-4BAA-0571-E4E2-3CAF5D82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3" y="137652"/>
            <a:ext cx="6599429" cy="603304"/>
          </a:xfrm>
        </p:spPr>
        <p:txBody>
          <a:bodyPr/>
          <a:lstStyle/>
          <a:p>
            <a:r>
              <a:rPr lang="en-GB" sz="3600" dirty="0"/>
              <a:t>User Story</a:t>
            </a:r>
            <a:r>
              <a:rPr lang="en-GB" sz="3600" dirty="0">
                <a:solidFill>
                  <a:srgbClr val="FF0000"/>
                </a:solidFill>
              </a:rPr>
              <a:t>(</a:t>
            </a:r>
            <a:r>
              <a:rPr lang="en-GB" sz="3600" dirty="0" err="1">
                <a:solidFill>
                  <a:srgbClr val="FF0000"/>
                </a:solidFill>
              </a:rPr>
              <a:t>cont</a:t>
            </a:r>
            <a:r>
              <a:rPr lang="en-GB" sz="3600" dirty="0">
                <a:solidFill>
                  <a:srgbClr val="FF0000"/>
                </a:solidFill>
              </a:rPr>
              <a:t>…)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5CDBE5-B875-2DC1-101C-FE9E5319C4F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6FA5190-DB08-8F13-BDB7-A82AE1873F79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5996" r="5996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303688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4F106-229E-589E-D25A-C9D8AEC9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FA3B0-9620-D2A0-4089-2D2686252A3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3" y="740956"/>
            <a:ext cx="6599428" cy="55552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sz="2400" b="1" dirty="0"/>
              <a:t>3. Consultar estatísticas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História</a:t>
            </a:r>
            <a:br>
              <a:rPr lang="pt-BR" sz="2400" dirty="0"/>
            </a:br>
            <a:r>
              <a:rPr lang="pt-BR" sz="2400" dirty="0"/>
              <a:t>Como Direção da FMX, quero consultar estatísticas de jogadores por província para análise estratégica.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Critérios de aceitação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Total de jogadores activos e inactivos;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Total por categoria de jogador;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Exportação em PDF ou Excel.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4360F6-4F6A-71A6-22C6-33DB25153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3" y="137652"/>
            <a:ext cx="6599429" cy="603304"/>
          </a:xfrm>
        </p:spPr>
        <p:txBody>
          <a:bodyPr/>
          <a:lstStyle/>
          <a:p>
            <a:r>
              <a:rPr lang="en-GB" sz="3600" dirty="0"/>
              <a:t>User Story</a:t>
            </a:r>
            <a:r>
              <a:rPr lang="en-GB" sz="3600" dirty="0">
                <a:solidFill>
                  <a:srgbClr val="FF0000"/>
                </a:solidFill>
              </a:rPr>
              <a:t>(</a:t>
            </a:r>
            <a:r>
              <a:rPr lang="en-GB" sz="3600" dirty="0" err="1">
                <a:solidFill>
                  <a:srgbClr val="FF0000"/>
                </a:solidFill>
              </a:rPr>
              <a:t>cont</a:t>
            </a:r>
            <a:r>
              <a:rPr lang="en-GB" sz="3600" dirty="0">
                <a:solidFill>
                  <a:srgbClr val="FF0000"/>
                </a:solidFill>
              </a:rPr>
              <a:t>…)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DC3C98-B7D2-899F-28F0-1C54C2F295B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40A3721-EA31-BC01-461D-FB44221C7593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5996" r="5996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860039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50D0-D488-4337-60CE-4D2F0281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0FBAE-8E52-339D-DAAF-086B6479630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3" y="740956"/>
            <a:ext cx="6599428" cy="55552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sz="2400" b="1" dirty="0"/>
              <a:t>4. Auditar membros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História</a:t>
            </a:r>
            <a:br>
              <a:rPr lang="pt-BR" sz="2400" dirty="0"/>
            </a:br>
            <a:r>
              <a:rPr lang="pt-BR" sz="2400" dirty="0"/>
              <a:t>Como Direção da FMX, quero auditar membros para garantir conformidade com regulamentos.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Critérios de aceitação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Relatório com membros activos, inactivos e suspensos;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Indicação de problemas (quota atrasada);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Exportação do histórico de auditoria.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38A50E-8FD7-1B85-2129-C48EDD32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3" y="137652"/>
            <a:ext cx="6599429" cy="603304"/>
          </a:xfrm>
        </p:spPr>
        <p:txBody>
          <a:bodyPr/>
          <a:lstStyle/>
          <a:p>
            <a:r>
              <a:rPr lang="en-GB" sz="3600" dirty="0"/>
              <a:t>User Story</a:t>
            </a:r>
            <a:r>
              <a:rPr lang="en-GB" sz="3600" dirty="0">
                <a:solidFill>
                  <a:srgbClr val="FF0000"/>
                </a:solidFill>
              </a:rPr>
              <a:t>(</a:t>
            </a:r>
            <a:r>
              <a:rPr lang="en-GB" sz="3600" dirty="0" err="1">
                <a:solidFill>
                  <a:srgbClr val="FF0000"/>
                </a:solidFill>
              </a:rPr>
              <a:t>cont</a:t>
            </a:r>
            <a:r>
              <a:rPr lang="en-GB" sz="3600" dirty="0">
                <a:solidFill>
                  <a:srgbClr val="FF0000"/>
                </a:solidFill>
              </a:rPr>
              <a:t>…)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B02A2A-B166-30EF-2495-59AC9877B336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30442CE-5120-F2D0-F35B-C0E1AFB1FEB5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20605" r="20605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377928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C9A1-AC6D-78BF-D472-2185D413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E72C9-4FF3-18BA-40F1-A7E4037B7D0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3" y="740956"/>
            <a:ext cx="6599428" cy="555528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sz="2400" b="1" dirty="0"/>
              <a:t>5. Criar utilizadores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História</a:t>
            </a:r>
            <a:br>
              <a:rPr lang="pt-BR" sz="2400" dirty="0"/>
            </a:br>
            <a:r>
              <a:rPr lang="pt-BR" sz="2400" dirty="0"/>
              <a:t>Como administrador, quero criar utilizadores no sistema para permitir acesso às funcionalidades conforme o papel.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Critérios de aceitação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Inserir dados do utilizador (nome, e-mail, função, associação);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2400" dirty="0"/>
              <a:t>Atribuir papel de acesso (FMX, associação ou jogador).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0B9443-D91A-FF99-24DB-2C5E7D09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3" y="137652"/>
            <a:ext cx="6599429" cy="603304"/>
          </a:xfrm>
        </p:spPr>
        <p:txBody>
          <a:bodyPr/>
          <a:lstStyle/>
          <a:p>
            <a:r>
              <a:rPr lang="en-GB" sz="3600" dirty="0"/>
              <a:t>User Story</a:t>
            </a:r>
            <a:r>
              <a:rPr lang="en-GB" sz="3600" dirty="0">
                <a:solidFill>
                  <a:srgbClr val="FF0000"/>
                </a:solidFill>
              </a:rPr>
              <a:t>(</a:t>
            </a:r>
            <a:r>
              <a:rPr lang="en-GB" sz="3600" dirty="0" err="1">
                <a:solidFill>
                  <a:srgbClr val="FF0000"/>
                </a:solidFill>
              </a:rPr>
              <a:t>cont</a:t>
            </a:r>
            <a:r>
              <a:rPr lang="en-GB" sz="3600" dirty="0">
                <a:solidFill>
                  <a:srgbClr val="FF0000"/>
                </a:solidFill>
              </a:rPr>
              <a:t>…)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ED8989-D4D9-5F70-DA05-B04E2C1A6E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2070A50A-3489-2F0C-4322-098A031D79D3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2"/>
          <a:srcRect l="24873" r="24873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704998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D229D-D050-4709-AA3B-0D9CF58F4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BE9A-2950-5C4C-6C44-4363CA0E9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02" y="679583"/>
            <a:ext cx="10889796" cy="1098682"/>
          </a:xfrm>
        </p:spPr>
        <p:txBody>
          <a:bodyPr/>
          <a:lstStyle/>
          <a:p>
            <a:r>
              <a:rPr lang="pt-PT" sz="3200" noProof="0" dirty="0"/>
              <a:t>Ambientes de agendamento de tarefas e desenvolvimento</a:t>
            </a:r>
            <a:endParaRPr lang="pt-PT" sz="3200" noProof="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D60B05-4FEA-F80E-6A52-388ED70CDA0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301F34-D3DD-B311-B192-43137EAB1804}"/>
              </a:ext>
            </a:extLst>
          </p:cNvPr>
          <p:cNvSpPr txBox="1"/>
          <p:nvPr/>
        </p:nvSpPr>
        <p:spPr>
          <a:xfrm>
            <a:off x="651102" y="1228924"/>
            <a:ext cx="2225289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pt-PT" sz="2000" noProof="0" dirty="0">
                <a:solidFill>
                  <a:schemeClr val="tx2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Divisão da equipe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C82BEC-6B4A-44CE-580B-89D800988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679869"/>
              </p:ext>
            </p:extLst>
          </p:nvPr>
        </p:nvGraphicFramePr>
        <p:xfrm>
          <a:off x="786581" y="1849744"/>
          <a:ext cx="9606117" cy="42966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2039">
                  <a:extLst>
                    <a:ext uri="{9D8B030D-6E8A-4147-A177-3AD203B41FA5}">
                      <a16:colId xmlns:a16="http://schemas.microsoft.com/office/drawing/2014/main" val="3264276863"/>
                    </a:ext>
                  </a:extLst>
                </a:gridCol>
                <a:gridCol w="3202039">
                  <a:extLst>
                    <a:ext uri="{9D8B030D-6E8A-4147-A177-3AD203B41FA5}">
                      <a16:colId xmlns:a16="http://schemas.microsoft.com/office/drawing/2014/main" val="1347118672"/>
                    </a:ext>
                  </a:extLst>
                </a:gridCol>
                <a:gridCol w="3202039">
                  <a:extLst>
                    <a:ext uri="{9D8B030D-6E8A-4147-A177-3AD203B41FA5}">
                      <a16:colId xmlns:a16="http://schemas.microsoft.com/office/drawing/2014/main" val="3290838424"/>
                    </a:ext>
                  </a:extLst>
                </a:gridCol>
              </a:tblGrid>
              <a:tr h="4138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 dirty="0">
                          <a:solidFill>
                            <a:schemeClr val="tx2"/>
                          </a:solidFill>
                          <a:effectLst/>
                        </a:rPr>
                        <a:t>Responsabilidade </a:t>
                      </a:r>
                      <a:r>
                        <a:rPr lang="pt-PT" sz="2000" kern="100" dirty="0" err="1">
                          <a:solidFill>
                            <a:schemeClr val="tx2"/>
                          </a:solidFill>
                          <a:effectLst/>
                        </a:rPr>
                        <a:t>Scrum</a:t>
                      </a:r>
                      <a:r>
                        <a:rPr lang="pt-PT" sz="2000" kern="100" dirty="0">
                          <a:solidFill>
                            <a:schemeClr val="tx2"/>
                          </a:solidFill>
                          <a:effectLst/>
                        </a:rPr>
                        <a:t> </a:t>
                      </a:r>
                      <a:endParaRPr lang="en-US" sz="2000" kern="1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>
                          <a:solidFill>
                            <a:schemeClr val="tx2"/>
                          </a:solidFill>
                          <a:effectLst/>
                        </a:rPr>
                        <a:t>Perfil Técnico Principal</a:t>
                      </a:r>
                      <a:endParaRPr lang="en-US" sz="2000" kern="10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 dirty="0">
                          <a:solidFill>
                            <a:schemeClr val="tx2"/>
                          </a:solidFill>
                          <a:effectLst/>
                        </a:rPr>
                        <a:t>Papel na Prática</a:t>
                      </a:r>
                      <a:endParaRPr lang="en-US" sz="2000" kern="10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8922204"/>
                  </a:ext>
                </a:extLst>
              </a:tr>
              <a:tr h="1294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 dirty="0" err="1">
                          <a:effectLst/>
                        </a:rPr>
                        <a:t>Product</a:t>
                      </a:r>
                      <a:r>
                        <a:rPr lang="pt-PT" sz="2000" kern="100" dirty="0">
                          <a:effectLst/>
                        </a:rPr>
                        <a:t> </a:t>
                      </a:r>
                      <a:r>
                        <a:rPr lang="pt-PT" sz="2000" kern="100" dirty="0" err="1">
                          <a:effectLst/>
                        </a:rPr>
                        <a:t>Owner</a:t>
                      </a:r>
                      <a:r>
                        <a:rPr lang="pt-PT" sz="2000" kern="100" dirty="0">
                          <a:effectLst/>
                        </a:rPr>
                        <a:t> (Ester Melina Elias </a:t>
                      </a:r>
                      <a:r>
                        <a:rPr lang="pt-PT" sz="2000" kern="100" dirty="0" err="1">
                          <a:effectLst/>
                        </a:rPr>
                        <a:t>Mapaco</a:t>
                      </a:r>
                      <a:r>
                        <a:rPr lang="pt-PT" sz="2000" kern="100" dirty="0">
                          <a:effectLst/>
                        </a:rPr>
                        <a:t>)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>
                          <a:effectLst/>
                        </a:rPr>
                        <a:t>Frontend / UX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>
                          <a:effectLst/>
                        </a:rPr>
                        <a:t>Garante que o que o utilizador vê entrega valor. Implementa a interface.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7122973"/>
                  </a:ext>
                </a:extLst>
              </a:tr>
              <a:tr h="1294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 dirty="0" err="1">
                          <a:effectLst/>
                        </a:rPr>
                        <a:t>Scrum</a:t>
                      </a:r>
                      <a:r>
                        <a:rPr lang="pt-PT" sz="2000" kern="100" dirty="0">
                          <a:effectLst/>
                        </a:rPr>
                        <a:t> </a:t>
                      </a:r>
                      <a:r>
                        <a:rPr lang="pt-PT" sz="2000" kern="100" dirty="0" err="1">
                          <a:effectLst/>
                        </a:rPr>
                        <a:t>Master</a:t>
                      </a:r>
                      <a:r>
                        <a:rPr lang="pt-PT" sz="2000" kern="100" dirty="0">
                          <a:effectLst/>
                        </a:rPr>
                        <a:t> (Génio </a:t>
                      </a:r>
                      <a:r>
                        <a:rPr lang="pt-PT" sz="2000" kern="100" dirty="0" err="1">
                          <a:effectLst/>
                        </a:rPr>
                        <a:t>Nassone</a:t>
                      </a:r>
                      <a:r>
                        <a:rPr lang="pt-PT" sz="2000" kern="100" dirty="0">
                          <a:effectLst/>
                        </a:rPr>
                        <a:t> Cossa)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>
                          <a:effectLst/>
                        </a:rPr>
                        <a:t>Fullstack / DevOps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>
                          <a:effectLst/>
                        </a:rPr>
                        <a:t>Garante a integração entre as partes e que o processo flui sem bloqueios.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0175669"/>
                  </a:ext>
                </a:extLst>
              </a:tr>
              <a:tr h="1294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 dirty="0" err="1">
                          <a:effectLst/>
                        </a:rPr>
                        <a:t>Developer</a:t>
                      </a:r>
                      <a:r>
                        <a:rPr lang="pt-PT" sz="2000" kern="100" dirty="0">
                          <a:effectLst/>
                        </a:rPr>
                        <a:t> (Virgílio Pavia Gomes)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>
                          <a:effectLst/>
                        </a:rPr>
                        <a:t>Backend / DB / Arquiteto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2000" kern="100" dirty="0">
                          <a:effectLst/>
                        </a:rPr>
                        <a:t>Garante que a estrutura de dados e lógica são sólidas e escaláveis.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5958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769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0E16-2ED9-FA9F-9359-69812115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102" y="679583"/>
            <a:ext cx="10889796" cy="674366"/>
          </a:xfrm>
        </p:spPr>
        <p:txBody>
          <a:bodyPr/>
          <a:lstStyle/>
          <a:p>
            <a:r>
              <a:rPr lang="pt-PT" sz="3600" noProof="0" dirty="0"/>
              <a:t>Ambientes de agendamento de tarefas</a:t>
            </a:r>
            <a:r>
              <a:rPr lang="pt-PT" sz="3600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pt-PT" sz="3600" noProof="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Trello</a:t>
            </a:r>
            <a:r>
              <a:rPr lang="pt-PT" sz="3600" noProof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8B090-21A9-FB7D-252F-A4B86AB9540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66324F-22D5-C588-28F6-2C1B35968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420"/>
          <a:stretch>
            <a:fillRect/>
          </a:stretch>
        </p:blipFill>
        <p:spPr>
          <a:xfrm>
            <a:off x="720495" y="1778265"/>
            <a:ext cx="7041103" cy="1338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DB4853-AA9F-BD6B-EF22-5AD932CB2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95" y="3109191"/>
            <a:ext cx="7041103" cy="14987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47C13C-6DA1-9A15-E9F3-3979C874C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95" y="4607940"/>
            <a:ext cx="7041103" cy="14357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33D3BC-FE92-6C61-ADF2-A428A0EA6919}"/>
              </a:ext>
            </a:extLst>
          </p:cNvPr>
          <p:cNvSpPr txBox="1"/>
          <p:nvPr/>
        </p:nvSpPr>
        <p:spPr>
          <a:xfrm>
            <a:off x="651102" y="1234666"/>
            <a:ext cx="2223686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pt-PT" sz="1800" noProof="0" dirty="0">
                <a:solidFill>
                  <a:schemeClr val="tx2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Membros da equipa</a:t>
            </a:r>
          </a:p>
        </p:txBody>
      </p:sp>
    </p:spTree>
    <p:extLst>
      <p:ext uri="{BB962C8B-B14F-4D97-AF65-F5344CB8AC3E}">
        <p14:creationId xmlns:p14="http://schemas.microsoft.com/office/powerpoint/2010/main" val="3899958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C791-E7D8-4B0B-2EA7-891DB2DE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F0FA3-7113-46B3-19A3-0C6A5AB0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890" y="589431"/>
            <a:ext cx="10889796" cy="674366"/>
          </a:xfrm>
        </p:spPr>
        <p:txBody>
          <a:bodyPr/>
          <a:lstStyle/>
          <a:p>
            <a:r>
              <a:rPr lang="pt-PT" sz="3600" dirty="0"/>
              <a:t>Ambientes de agendamento de tarefas</a:t>
            </a:r>
            <a:r>
              <a:rPr lang="pt-PT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pt-PT" sz="36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Trello</a:t>
            </a:r>
            <a:r>
              <a:rPr lang="pt-PT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lang="pt-PT" sz="36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D0657-1F56-A0FE-C0CE-0DA54981F5D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351E4B-9712-E6E6-6772-AC69E7641B5F}"/>
              </a:ext>
            </a:extLst>
          </p:cNvPr>
          <p:cNvSpPr txBox="1"/>
          <p:nvPr/>
        </p:nvSpPr>
        <p:spPr>
          <a:xfrm>
            <a:off x="809890" y="1263797"/>
            <a:ext cx="4121641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pt-PT" sz="1800" noProof="0" dirty="0">
                <a:solidFill>
                  <a:schemeClr val="tx2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Organização e distribuição das </a:t>
            </a:r>
            <a:r>
              <a:rPr lang="pt-PT" noProof="0" dirty="0">
                <a:solidFill>
                  <a:schemeClr val="tx2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tarefas</a:t>
            </a:r>
            <a:endParaRPr lang="pt-PT" sz="1800" noProof="0" dirty="0">
              <a:solidFill>
                <a:schemeClr val="tx2"/>
              </a:solidFill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FB5427-05A0-8671-2AA1-F66359952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86" y="1778265"/>
            <a:ext cx="9750749" cy="449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79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9DA44-3BBF-4F5B-1ED1-FCD062F7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7BD79-5CEB-600A-55AD-59E16C52D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890" y="589431"/>
            <a:ext cx="10889796" cy="674366"/>
          </a:xfrm>
        </p:spPr>
        <p:txBody>
          <a:bodyPr/>
          <a:lstStyle/>
          <a:p>
            <a:r>
              <a:rPr lang="pt-PT" sz="3600" dirty="0"/>
              <a:t>Ambientes de Desenvolvimento</a:t>
            </a:r>
            <a:r>
              <a:rPr lang="pt-PT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pt-PT" sz="36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Github</a:t>
            </a:r>
            <a:r>
              <a:rPr lang="pt-PT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lang="pt-PT" sz="36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35FAC-B6C5-571C-2A43-9008DAAE444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38994D-50D6-F1ED-54E3-A1A10A43C47F}"/>
              </a:ext>
            </a:extLst>
          </p:cNvPr>
          <p:cNvSpPr txBox="1"/>
          <p:nvPr/>
        </p:nvSpPr>
        <p:spPr>
          <a:xfrm>
            <a:off x="809890" y="1263797"/>
            <a:ext cx="2903359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pt-PT" dirty="0">
                <a:solidFill>
                  <a:schemeClr val="tx2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Colaboradores do </a:t>
            </a:r>
            <a:r>
              <a:rPr lang="pt-PT" dirty="0" err="1">
                <a:solidFill>
                  <a:schemeClr val="tx2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projecto</a:t>
            </a:r>
            <a:endParaRPr lang="pt-PT" sz="1800" noProof="0" dirty="0">
              <a:solidFill>
                <a:schemeClr val="tx2"/>
              </a:solidFill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CEDD92-1790-7B21-355A-63D60369A1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57" t="14734" r="12259"/>
          <a:stretch>
            <a:fillRect/>
          </a:stretch>
        </p:blipFill>
        <p:spPr>
          <a:xfrm>
            <a:off x="1917289" y="1759972"/>
            <a:ext cx="8039891" cy="474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36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FF23-653B-4A3E-F80A-54E239AAC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7B3F-D499-228A-A153-93055D583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890" y="589431"/>
            <a:ext cx="10889796" cy="674366"/>
          </a:xfrm>
        </p:spPr>
        <p:txBody>
          <a:bodyPr/>
          <a:lstStyle/>
          <a:p>
            <a:r>
              <a:rPr lang="pt-PT" sz="3600" dirty="0"/>
              <a:t>Ambientes de Desenvolvimento</a:t>
            </a:r>
            <a:r>
              <a:rPr lang="pt-PT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pt-PT" sz="36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Github</a:t>
            </a:r>
            <a:r>
              <a:rPr lang="pt-PT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lang="pt-PT" sz="36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91FBE-79C7-0458-1FFA-A5E1AD885DA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AB5B6-5981-3239-C9EB-3A9D66D77F91}"/>
              </a:ext>
            </a:extLst>
          </p:cNvPr>
          <p:cNvSpPr txBox="1"/>
          <p:nvPr/>
        </p:nvSpPr>
        <p:spPr>
          <a:xfrm>
            <a:off x="1585746" y="1263797"/>
            <a:ext cx="1351652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pt-PT" dirty="0">
                <a:solidFill>
                  <a:schemeClr val="tx2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Repositório</a:t>
            </a:r>
            <a:endParaRPr lang="pt-PT" sz="1800" noProof="0" dirty="0">
              <a:solidFill>
                <a:schemeClr val="tx2"/>
              </a:solidFill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B0657C-D408-8D38-BA87-2A32540805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8" t="475" r="33952" b="15317"/>
          <a:stretch>
            <a:fillRect/>
          </a:stretch>
        </p:blipFill>
        <p:spPr>
          <a:xfrm>
            <a:off x="1780340" y="1754902"/>
            <a:ext cx="7560305" cy="482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070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1962-D274-4938-7261-00CCD436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CA6A-085E-6855-F975-E21C44497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890" y="589431"/>
            <a:ext cx="10889796" cy="674366"/>
          </a:xfrm>
        </p:spPr>
        <p:txBody>
          <a:bodyPr/>
          <a:lstStyle/>
          <a:p>
            <a:r>
              <a:rPr lang="pt-PT" sz="3600" dirty="0"/>
              <a:t>Ambientes de Desenvolvimento</a:t>
            </a:r>
            <a:r>
              <a:rPr lang="pt-PT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pt-PT" sz="36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Github</a:t>
            </a:r>
            <a:r>
              <a:rPr lang="pt-PT"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lang="pt-PT" sz="36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B9F0F-7E3C-FF27-43FB-281591E31E7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80F153-7EEF-89B9-518D-03D342B24AAF}"/>
              </a:ext>
            </a:extLst>
          </p:cNvPr>
          <p:cNvSpPr txBox="1"/>
          <p:nvPr/>
        </p:nvSpPr>
        <p:spPr>
          <a:xfrm>
            <a:off x="809890" y="1133207"/>
            <a:ext cx="2133918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pt-PT" dirty="0">
                <a:solidFill>
                  <a:schemeClr val="tx2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Notas de </a:t>
            </a:r>
            <a:r>
              <a:rPr lang="pt-PT" dirty="0" err="1">
                <a:solidFill>
                  <a:schemeClr val="tx2"/>
                </a:solidFill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elicitação</a:t>
            </a:r>
            <a:endParaRPr lang="pt-PT" sz="1800" noProof="0" dirty="0">
              <a:solidFill>
                <a:schemeClr val="tx2"/>
              </a:solidFill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FEC64-D30A-5240-36FC-F00180D6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64" r="28548"/>
          <a:stretch>
            <a:fillRect/>
          </a:stretch>
        </p:blipFill>
        <p:spPr>
          <a:xfrm>
            <a:off x="894735" y="1741282"/>
            <a:ext cx="8711381" cy="502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33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802194"/>
            <a:ext cx="5055698" cy="856172"/>
          </a:xfrm>
        </p:spPr>
        <p:txBody>
          <a:bodyPr/>
          <a:lstStyle/>
          <a:p>
            <a:r>
              <a:rPr lang="pt-PT" noProof="0" dirty="0"/>
              <a:t>Fim da apresentação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A30CD899-8243-004A-2412-77D985DBA66C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3"/>
          <a:srcRect l="17512" r="17512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E9D4318C-A150-C21C-3DC5-CB7E7163A3C7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4"/>
          <a:srcRect l="12050" r="12050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496FD973-CFE4-B56F-81BC-555D874868B3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5"/>
          <a:srcRect l="21583" r="21583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7E2DD9B4-7ACF-66BC-3E92-7047285C134B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6"/>
          <a:srcRect l="11993" r="11993"/>
          <a:stretch>
            <a:fillRect/>
          </a:stretch>
        </p:blipFill>
        <p:spPr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206</TotalTime>
  <Words>987</Words>
  <Application>Microsoft Office PowerPoint</Application>
  <PresentationFormat>Widescreen</PresentationFormat>
  <Paragraphs>177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等线</vt:lpstr>
      <vt:lpstr>Abadi</vt:lpstr>
      <vt:lpstr>Arial</vt:lpstr>
      <vt:lpstr>Calibri</vt:lpstr>
      <vt:lpstr>Posterama Text Black</vt:lpstr>
      <vt:lpstr>Posterama Text SemiBold</vt:lpstr>
      <vt:lpstr>Wingdings</vt:lpstr>
      <vt:lpstr>Custom​​</vt:lpstr>
      <vt:lpstr>Integrantes do grupo</vt:lpstr>
      <vt:lpstr>Tema: Sistema Integrado de Filiação e Controlo de Quotas das Associações da Federação Moçambicana de Xadrez.</vt:lpstr>
      <vt:lpstr>Público alvo</vt:lpstr>
      <vt:lpstr>Valor</vt:lpstr>
      <vt:lpstr>Problematização</vt:lpstr>
      <vt:lpstr>Contextualização</vt:lpstr>
      <vt:lpstr>Limites do Sistema</vt:lpstr>
      <vt:lpstr>Stakeholders Stakeholders Primários</vt:lpstr>
      <vt:lpstr>Stakeholders Stakeholders Primários(cont…)</vt:lpstr>
      <vt:lpstr>Stakeholders Stakeholders Primários(cont…)</vt:lpstr>
      <vt:lpstr>Stakeholders Stakeholders Primários(cont…)</vt:lpstr>
      <vt:lpstr>Stakeholders Stakeholders Secundários</vt:lpstr>
      <vt:lpstr>Stakeholders Stakeholders Secundários(cont…)</vt:lpstr>
      <vt:lpstr>Stakeholders Stakeholders Secundários(cont…)</vt:lpstr>
      <vt:lpstr>User Story</vt:lpstr>
      <vt:lpstr>User Story(cont…)</vt:lpstr>
      <vt:lpstr>User Story(cont…)</vt:lpstr>
      <vt:lpstr>User Story(cont…)</vt:lpstr>
      <vt:lpstr>User Story(cont…)</vt:lpstr>
      <vt:lpstr>Ambientes de agendamento de tarefas e desenvolvimento</vt:lpstr>
      <vt:lpstr>Ambientes de agendamento de tarefas(Trello)</vt:lpstr>
      <vt:lpstr>Ambientes de agendamento de tarefas(Trello)</vt:lpstr>
      <vt:lpstr>Ambientes de Desenvolvimento(Github)</vt:lpstr>
      <vt:lpstr>Ambientes de Desenvolvimento(Github)</vt:lpstr>
      <vt:lpstr>Ambientes de Desenvolvimento(Github)</vt:lpstr>
      <vt:lpstr>Fim da apresentação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Genio Cossa</dc:creator>
  <cp:lastModifiedBy>Genio Cossa</cp:lastModifiedBy>
  <cp:revision>27</cp:revision>
  <dcterms:created xsi:type="dcterms:W3CDTF">2026-03-08T10:04:11Z</dcterms:created>
  <dcterms:modified xsi:type="dcterms:W3CDTF">2026-03-08T17:55:45Z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